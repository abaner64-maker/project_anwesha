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ebas Neue Bold" charset="1" panose="020B0606020202050201"/>
      <p:regular r:id="rId15"/>
    </p:embeddedFont>
    <p:embeddedFont>
      <p:font typeface="Raleway Bold" charset="1" panose="00000000000000000000"/>
      <p:regular r:id="rId16"/>
    </p:embeddedFont>
    <p:embeddedFont>
      <p:font typeface="Raleway Italics" charset="1" panose="00000000000000000000"/>
      <p:regular r:id="rId17"/>
    </p:embeddedFont>
    <p:embeddedFont>
      <p:font typeface="Raleway" charset="1" panose="00000000000000000000"/>
      <p:regular r:id="rId18"/>
    </p:embeddedFont>
    <p:embeddedFont>
      <p:font typeface="Raleway Bold Italics" charset="1" panose="00000000000000000000"/>
      <p:regular r:id="rId19"/>
    </p:embeddedFont>
    <p:embeddedFont>
      <p:font typeface="Canva Sans Bold Italics" charset="1" panose="020B0803030501040103"/>
      <p:regular r:id="rId20"/>
    </p:embeddedFont>
    <p:embeddedFont>
      <p:font typeface="Arimo Bold" charset="1" panose="020B0704020202020204"/>
      <p:regular r:id="rId21"/>
    </p:embeddedFont>
    <p:embeddedFont>
      <p:font typeface="Aileron Bold" charset="1" panose="00000800000000000000"/>
      <p:regular r:id="rId22"/>
    </p:embeddedFont>
    <p:embeddedFont>
      <p:font typeface="Arimo Bold Italics" charset="1" panose="020B0704020202090204"/>
      <p:regular r:id="rId23"/>
    </p:embeddedFont>
    <p:embeddedFont>
      <p:font typeface="Arimo" charset="1" panose="020B0604020202020204"/>
      <p:regular r:id="rId24"/>
    </p:embeddedFont>
    <p:embeddedFont>
      <p:font typeface="Arial Bold" charset="1" panose="020B0802020202020204"/>
      <p:regular r:id="rId25"/>
    </p:embeddedFont>
    <p:embeddedFont>
      <p:font typeface="Garet Bold" charset="1" panose="00000000000000000000"/>
      <p:regular r:id="rId26"/>
    </p:embeddedFont>
    <p:embeddedFont>
      <p:font typeface="Open Sans Bold" charset="1" panose="00000000000000000000"/>
      <p:regular r:id="rId27"/>
    </p:embeddedFont>
    <p:embeddedFont>
      <p:font typeface="Canva Sans" charset="1" panose="020B0503030501040103"/>
      <p:regular r:id="rId28"/>
    </p:embeddedFont>
    <p:embeddedFont>
      <p:font typeface="Inter Bold" charset="1" panose="020B080203000000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C2F6F">
                <a:alpha val="100000"/>
              </a:srgbClr>
            </a:gs>
            <a:gs pos="100000">
              <a:srgbClr val="490F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32374" y="1028700"/>
            <a:ext cx="3413934" cy="341393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5E9">
                    <a:alpha val="100000"/>
                  </a:srgbClr>
                </a:gs>
                <a:gs pos="100000">
                  <a:srgbClr val="E7E8E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23809" y="4666531"/>
            <a:ext cx="7720191" cy="159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0"/>
              </a:lnSpc>
            </a:pPr>
            <a:r>
              <a:rPr lang="en-US" sz="11920" b="true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for Anlysis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3092" y="5940470"/>
            <a:ext cx="6602343" cy="336119"/>
          </a:xfrm>
          <a:custGeom>
            <a:avLst/>
            <a:gdLst/>
            <a:ahLst/>
            <a:cxnLst/>
            <a:rect r="r" b="b" t="t" l="l"/>
            <a:pathLst>
              <a:path h="336119" w="6602343">
                <a:moveTo>
                  <a:pt x="0" y="0"/>
                </a:moveTo>
                <a:lnTo>
                  <a:pt x="6602343" y="0"/>
                </a:lnTo>
                <a:lnTo>
                  <a:pt x="6602343" y="336120"/>
                </a:lnTo>
                <a:lnTo>
                  <a:pt x="0" y="336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45465" y="6448040"/>
            <a:ext cx="5034668" cy="2810260"/>
          </a:xfrm>
          <a:custGeom>
            <a:avLst/>
            <a:gdLst/>
            <a:ahLst/>
            <a:cxnLst/>
            <a:rect r="r" b="b" t="t" l="l"/>
            <a:pathLst>
              <a:path h="2810260" w="5034668">
                <a:moveTo>
                  <a:pt x="0" y="0"/>
                </a:moveTo>
                <a:lnTo>
                  <a:pt x="5034668" y="0"/>
                </a:lnTo>
                <a:lnTo>
                  <a:pt x="5034668" y="2810260"/>
                </a:lnTo>
                <a:lnTo>
                  <a:pt x="0" y="281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91936" y="552280"/>
            <a:ext cx="2843806" cy="1587361"/>
          </a:xfrm>
          <a:custGeom>
            <a:avLst/>
            <a:gdLst/>
            <a:ahLst/>
            <a:cxnLst/>
            <a:rect r="r" b="b" t="t" l="l"/>
            <a:pathLst>
              <a:path h="1587361" w="2843806">
                <a:moveTo>
                  <a:pt x="0" y="0"/>
                </a:moveTo>
                <a:lnTo>
                  <a:pt x="2843807" y="0"/>
                </a:lnTo>
                <a:lnTo>
                  <a:pt x="2843807" y="1587361"/>
                </a:lnTo>
                <a:lnTo>
                  <a:pt x="0" y="158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17579417" cy="10240011"/>
          </a:xfrm>
          <a:custGeom>
            <a:avLst/>
            <a:gdLst/>
            <a:ahLst/>
            <a:cxnLst/>
            <a:rect r="r" b="b" t="t" l="l"/>
            <a:pathLst>
              <a:path h="10240011" w="17579417">
                <a:moveTo>
                  <a:pt x="0" y="0"/>
                </a:moveTo>
                <a:lnTo>
                  <a:pt x="17579417" y="0"/>
                </a:lnTo>
                <a:lnTo>
                  <a:pt x="17579417" y="10240011"/>
                </a:lnTo>
                <a:lnTo>
                  <a:pt x="0" y="102400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807860" y="761830"/>
            <a:ext cx="7720191" cy="159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20"/>
              </a:lnSpc>
            </a:pPr>
            <a:r>
              <a:rPr lang="en-US" b="true" sz="11920">
                <a:solidFill>
                  <a:srgbClr val="14122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Gym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92856" y="8741720"/>
            <a:ext cx="338855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984787" y="2301566"/>
            <a:ext cx="7720191" cy="121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0"/>
              </a:lnSpc>
            </a:pPr>
            <a:r>
              <a:rPr lang="en-US" b="true" sz="9020">
                <a:solidFill>
                  <a:srgbClr val="14122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C2F6F">
                <a:alpha val="100000"/>
              </a:srgbClr>
            </a:gs>
            <a:gs pos="100000">
              <a:srgbClr val="490F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55227" y="-514350"/>
            <a:ext cx="5904073" cy="11980352"/>
            <a:chOff x="0" y="0"/>
            <a:chExt cx="1554982" cy="3155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4982" cy="3155319"/>
            </a:xfrm>
            <a:custGeom>
              <a:avLst/>
              <a:gdLst/>
              <a:ahLst/>
              <a:cxnLst/>
              <a:rect r="r" b="b" t="t" l="l"/>
              <a:pathLst>
                <a:path h="3155319" w="1554982">
                  <a:moveTo>
                    <a:pt x="0" y="0"/>
                  </a:moveTo>
                  <a:lnTo>
                    <a:pt x="1554982" y="0"/>
                  </a:lnTo>
                  <a:lnTo>
                    <a:pt x="1554982" y="3155319"/>
                  </a:lnTo>
                  <a:lnTo>
                    <a:pt x="0" y="3155319"/>
                  </a:lnTo>
                  <a:close/>
                </a:path>
              </a:pathLst>
            </a:custGeom>
            <a:gradFill rotWithShape="true">
              <a:gsLst>
                <a:gs pos="0">
                  <a:srgbClr val="FFF5E9">
                    <a:alpha val="100000"/>
                  </a:srgbClr>
                </a:gs>
                <a:gs pos="50000">
                  <a:srgbClr val="E7E8E4">
                    <a:alpha val="100000"/>
                  </a:srgbClr>
                </a:gs>
                <a:gs pos="100000">
                  <a:srgbClr val="E7E8E4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54982" cy="319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116741" y="0"/>
            <a:ext cx="8171259" cy="10957921"/>
          </a:xfrm>
          <a:custGeom>
            <a:avLst/>
            <a:gdLst/>
            <a:ahLst/>
            <a:cxnLst/>
            <a:rect r="r" b="b" t="t" l="l"/>
            <a:pathLst>
              <a:path h="10957921" w="8171259">
                <a:moveTo>
                  <a:pt x="0" y="0"/>
                </a:moveTo>
                <a:lnTo>
                  <a:pt x="8171259" y="0"/>
                </a:lnTo>
                <a:lnTo>
                  <a:pt x="8171259" y="10957921"/>
                </a:lnTo>
                <a:lnTo>
                  <a:pt x="0" y="10957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63" t="0" r="-2051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92856" y="8741720"/>
            <a:ext cx="385473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39880"/>
            <a:ext cx="5385535" cy="112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5"/>
              </a:lnSpc>
            </a:pPr>
            <a:r>
              <a:rPr lang="en-US" sz="8315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605279"/>
            <a:ext cx="5944557" cy="111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5"/>
              </a:lnSpc>
            </a:pPr>
            <a:r>
              <a:rPr lang="en-US" sz="8315" b="true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Answer the ‘W’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002" y="2820969"/>
            <a:ext cx="8580339" cy="66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3198" b="true">
                <a:solidFill>
                  <a:srgbClr val="FFF5E9"/>
                </a:solidFill>
                <a:latin typeface="Raleway Bold"/>
                <a:ea typeface="Raleway Bold"/>
                <a:cs typeface="Raleway Bold"/>
                <a:sym typeface="Raleway Bold"/>
              </a:rPr>
              <a:t>Where the problem stems from?</a:t>
            </a:r>
          </a:p>
          <a:p>
            <a:pPr algn="l" marL="610352" indent="-305176" lvl="1">
              <a:lnSpc>
                <a:spcPts val="3957"/>
              </a:lnSpc>
              <a:buFont typeface="Arial"/>
              <a:buChar char="•"/>
            </a:pPr>
            <a:r>
              <a:rPr lang="en-US" sz="2827" i="true">
                <a:solidFill>
                  <a:srgbClr val="FFF5E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Online reviews shape a gym’s reputation and customer decisions.</a:t>
            </a:r>
          </a:p>
          <a:p>
            <a:pPr algn="l">
              <a:lnSpc>
                <a:spcPts val="3957"/>
              </a:lnSpc>
            </a:pPr>
          </a:p>
          <a:p>
            <a:pPr algn="l">
              <a:lnSpc>
                <a:spcPts val="4478"/>
              </a:lnSpc>
            </a:pPr>
            <a:r>
              <a:rPr lang="en-US" sz="3198" b="true">
                <a:solidFill>
                  <a:srgbClr val="FFF5E9"/>
                </a:solidFill>
                <a:latin typeface="Raleway Bold"/>
                <a:ea typeface="Raleway Bold"/>
                <a:cs typeface="Raleway Bold"/>
                <a:sym typeface="Raleway Bold"/>
              </a:rPr>
              <a:t>What is the problem?</a:t>
            </a:r>
          </a:p>
          <a:p>
            <a:pPr algn="l" marL="610996" indent="-305498" lvl="1">
              <a:lnSpc>
                <a:spcPts val="3961"/>
              </a:lnSpc>
              <a:buFont typeface="Arial"/>
              <a:buChar char="•"/>
            </a:pPr>
            <a:r>
              <a:rPr lang="en-US" sz="2829">
                <a:solidFill>
                  <a:srgbClr val="FFF5E9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829" i="true">
                <a:solidFill>
                  <a:srgbClr val="FFF5E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dentify factors that drive </a:t>
            </a:r>
            <a:r>
              <a:rPr lang="en-US" b="true" sz="2829" i="true">
                <a:solidFill>
                  <a:srgbClr val="FFF5E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1-star vs. 5-star</a:t>
            </a:r>
            <a:r>
              <a:rPr lang="en-US" sz="2829" i="true">
                <a:solidFill>
                  <a:srgbClr val="FFF5E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ratings and predict review sentiment.</a:t>
            </a:r>
          </a:p>
          <a:p>
            <a:pPr algn="l">
              <a:lnSpc>
                <a:spcPts val="3961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5E9"/>
                </a:solidFill>
                <a:latin typeface="Raleway Bold"/>
                <a:ea typeface="Raleway Bold"/>
                <a:cs typeface="Raleway Bold"/>
                <a:sym typeface="Raleway Bold"/>
              </a:rPr>
              <a:t>How do we approach the problem?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 i="true">
                <a:solidFill>
                  <a:srgbClr val="FFF5E9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By applying </a:t>
            </a:r>
            <a:r>
              <a:rPr lang="en-US" b="true" sz="2800">
                <a:solidFill>
                  <a:srgbClr val="FFF5E9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800" i="true">
                <a:solidFill>
                  <a:srgbClr val="FFF5E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 analytics, word clouds, topic modeling (LDA), and classification (Logistic Regression, Random Forest, XGBoost</a:t>
            </a:r>
          </a:p>
          <a:p>
            <a:pPr algn="l">
              <a:lnSpc>
                <a:spcPts val="421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92856" y="8741720"/>
            <a:ext cx="385473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7293" y="542095"/>
            <a:ext cx="6706783" cy="1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5"/>
              </a:lnSpc>
            </a:pPr>
            <a:r>
              <a:rPr lang="en-US" b="true" sz="8315">
                <a:solidFill>
                  <a:srgbClr val="2A316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Data Overview &amp;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7626" y="1550300"/>
            <a:ext cx="6000425" cy="871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1"/>
              </a:lnSpc>
            </a:pPr>
            <a:r>
              <a:rPr lang="en-US" sz="6561" b="true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Preprocessing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78112" y="1554682"/>
            <a:ext cx="10332293" cy="9223808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452543" y="588981"/>
            <a:ext cx="3866034" cy="162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3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Thousands of gym reviews,</a:t>
            </a:r>
          </a:p>
          <a:p>
            <a:pPr algn="l">
              <a:lnSpc>
                <a:spcPts val="3227"/>
              </a:lnSpc>
            </a:pPr>
            <a:r>
              <a:rPr lang="en-US" sz="23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with star ratings (1–5) </a:t>
            </a:r>
          </a:p>
          <a:p>
            <a:pPr algn="l">
              <a:lnSpc>
                <a:spcPts val="3227"/>
              </a:lnSpc>
            </a:pPr>
            <a:r>
              <a:rPr lang="en-US" sz="23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and review text.</a:t>
            </a:r>
          </a:p>
          <a:p>
            <a:pPr algn="l">
              <a:lnSpc>
                <a:spcPts val="322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224525" y="8371420"/>
            <a:ext cx="5063475" cy="115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2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1-star and 5-star reviews dominate, fewer in 2–4 stars</a:t>
            </a:r>
          </a:p>
          <a:p>
            <a:pPr algn="l">
              <a:lnSpc>
                <a:spcPts val="3087"/>
              </a:lnSpc>
            </a:pP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4210162" y="4670539"/>
            <a:ext cx="3477889" cy="4729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 flipV="true">
            <a:off x="11806844" y="1426475"/>
            <a:ext cx="645699" cy="19993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12198825" y="8055228"/>
            <a:ext cx="312142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H="true">
            <a:off x="4568061" y="7502492"/>
            <a:ext cx="3841560" cy="1245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1175742" y="4101967"/>
            <a:ext cx="2882205" cy="109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1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Training and testing </a:t>
            </a:r>
          </a:p>
          <a:p>
            <a:pPr algn="l">
              <a:lnSpc>
                <a:spcPts val="2947"/>
              </a:lnSpc>
            </a:pPr>
            <a:r>
              <a:rPr lang="en-US" sz="21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sets for classification </a:t>
            </a:r>
          </a:p>
          <a:p>
            <a:pPr algn="l">
              <a:lnSpc>
                <a:spcPts val="2947"/>
              </a:lnSpc>
            </a:pPr>
            <a:r>
              <a:rPr lang="en-US" sz="21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(e.g., 80/20).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4403" y="6748183"/>
            <a:ext cx="4057948" cy="147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1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Removed duplicates, handled </a:t>
            </a:r>
          </a:p>
          <a:p>
            <a:pPr algn="l">
              <a:lnSpc>
                <a:spcPts val="2947"/>
              </a:lnSpc>
            </a:pPr>
            <a:r>
              <a:rPr lang="en-US" sz="21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missing values, tokenized text, </a:t>
            </a:r>
          </a:p>
          <a:p>
            <a:pPr algn="l">
              <a:lnSpc>
                <a:spcPts val="2947"/>
              </a:lnSpc>
            </a:pPr>
            <a:r>
              <a:rPr lang="en-US" sz="21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removed stopwords/</a:t>
            </a:r>
          </a:p>
          <a:p>
            <a:pPr algn="l">
              <a:lnSpc>
                <a:spcPts val="2947"/>
              </a:lnSpc>
            </a:pPr>
            <a:r>
              <a:rPr lang="en-US" sz="2105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punctuation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90576" y="8021225"/>
            <a:ext cx="3795017" cy="2118309"/>
          </a:xfrm>
          <a:custGeom>
            <a:avLst/>
            <a:gdLst/>
            <a:ahLst/>
            <a:cxnLst/>
            <a:rect r="r" b="b" t="t" l="l"/>
            <a:pathLst>
              <a:path h="2118309" w="3795017">
                <a:moveTo>
                  <a:pt x="0" y="0"/>
                </a:moveTo>
                <a:lnTo>
                  <a:pt x="3795017" y="0"/>
                </a:lnTo>
                <a:lnTo>
                  <a:pt x="3795017" y="2118310"/>
                </a:lnTo>
                <a:lnTo>
                  <a:pt x="0" y="2118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7461" y="235020"/>
            <a:ext cx="2843806" cy="1587361"/>
          </a:xfrm>
          <a:custGeom>
            <a:avLst/>
            <a:gdLst/>
            <a:ahLst/>
            <a:cxnLst/>
            <a:rect r="r" b="b" t="t" l="l"/>
            <a:pathLst>
              <a:path h="1587361" w="2843806">
                <a:moveTo>
                  <a:pt x="0" y="0"/>
                </a:moveTo>
                <a:lnTo>
                  <a:pt x="2843806" y="0"/>
                </a:lnTo>
                <a:lnTo>
                  <a:pt x="2843806" y="1587360"/>
                </a:lnTo>
                <a:lnTo>
                  <a:pt x="0" y="1587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6304" y="2085487"/>
            <a:ext cx="6763827" cy="3689360"/>
          </a:xfrm>
          <a:custGeom>
            <a:avLst/>
            <a:gdLst/>
            <a:ahLst/>
            <a:cxnLst/>
            <a:rect r="r" b="b" t="t" l="l"/>
            <a:pathLst>
              <a:path h="3689360" w="6763827">
                <a:moveTo>
                  <a:pt x="0" y="0"/>
                </a:moveTo>
                <a:lnTo>
                  <a:pt x="6763827" y="0"/>
                </a:lnTo>
                <a:lnTo>
                  <a:pt x="6763827" y="3689361"/>
                </a:lnTo>
                <a:lnTo>
                  <a:pt x="0" y="36893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6304" y="6173164"/>
            <a:ext cx="6776223" cy="3696122"/>
          </a:xfrm>
          <a:custGeom>
            <a:avLst/>
            <a:gdLst/>
            <a:ahLst/>
            <a:cxnLst/>
            <a:rect r="r" b="b" t="t" l="l"/>
            <a:pathLst>
              <a:path h="3696122" w="6776223">
                <a:moveTo>
                  <a:pt x="0" y="0"/>
                </a:moveTo>
                <a:lnTo>
                  <a:pt x="6776223" y="0"/>
                </a:lnTo>
                <a:lnTo>
                  <a:pt x="6776223" y="3696122"/>
                </a:lnTo>
                <a:lnTo>
                  <a:pt x="0" y="3696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81" t="-2903" r="-158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92856" y="8741720"/>
            <a:ext cx="385473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77246" y="542095"/>
            <a:ext cx="9544913" cy="1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5"/>
              </a:lnSpc>
            </a:pPr>
            <a:r>
              <a:rPr lang="en-US" b="true" sz="8315">
                <a:solidFill>
                  <a:srgbClr val="3D288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Explatory Data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58137" y="3674794"/>
            <a:ext cx="9345290" cy="492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522" b="true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Star Rating Distribution: Large proportion of 5-star reviews,</a:t>
            </a:r>
          </a:p>
          <a:p>
            <a:pPr algn="l">
              <a:lnSpc>
                <a:spcPts val="3531"/>
              </a:lnSpc>
            </a:pPr>
            <a:r>
              <a:rPr lang="en-US" sz="2522" b="true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 significant 1-star chunk.</a:t>
            </a:r>
          </a:p>
          <a:p>
            <a:pPr algn="l">
              <a:lnSpc>
                <a:spcPts val="3531"/>
              </a:lnSpc>
            </a:pPr>
          </a:p>
          <a:p>
            <a:pPr algn="l">
              <a:lnSpc>
                <a:spcPts val="3531"/>
              </a:lnSpc>
            </a:pPr>
            <a:r>
              <a:rPr lang="en-US" sz="2522" b="true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Review Length: Most are relatively short; a few are very long.</a:t>
            </a:r>
          </a:p>
          <a:p>
            <a:pPr algn="l">
              <a:lnSpc>
                <a:spcPts val="3531"/>
              </a:lnSpc>
            </a:pPr>
          </a:p>
          <a:p>
            <a:pPr algn="l">
              <a:lnSpc>
                <a:spcPts val="3531"/>
              </a:lnSpc>
            </a:pPr>
            <a:r>
              <a:rPr lang="en-US" sz="2522" b="true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Initial Sentiment: Majority positive, fewer negative,</a:t>
            </a:r>
          </a:p>
          <a:p>
            <a:pPr algn="l">
              <a:lnSpc>
                <a:spcPts val="3531"/>
              </a:lnSpc>
            </a:pPr>
            <a:r>
              <a:rPr lang="en-US" sz="2522" b="true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 small neutral.</a:t>
            </a:r>
          </a:p>
          <a:p>
            <a:pPr algn="l">
              <a:lnSpc>
                <a:spcPts val="3531"/>
              </a:lnSpc>
            </a:pPr>
          </a:p>
          <a:p>
            <a:pPr algn="l">
              <a:lnSpc>
                <a:spcPts val="3531"/>
              </a:lnSpc>
            </a:pPr>
            <a:r>
              <a:rPr lang="en-US" sz="2522" b="true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LDA Topic Exploration: Tested 2–9 topics; coherence scores </a:t>
            </a:r>
          </a:p>
          <a:p>
            <a:pPr algn="l">
              <a:lnSpc>
                <a:spcPts val="3531"/>
              </a:lnSpc>
            </a:pPr>
            <a:r>
              <a:rPr lang="en-US" sz="2522" b="true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suggest fewer topics may capture main themes.</a:t>
            </a:r>
          </a:p>
          <a:p>
            <a:pPr algn="l">
              <a:lnSpc>
                <a:spcPts val="353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500113" y="2534001"/>
            <a:ext cx="5385535" cy="103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5"/>
              </a:lnSpc>
            </a:pPr>
            <a:r>
              <a:rPr lang="en-US" b="true" sz="7715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Key TAkeaways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5793898"/>
            <a:ext cx="67514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817700" y="2022447"/>
            <a:ext cx="5165698" cy="2802505"/>
          </a:xfrm>
          <a:custGeom>
            <a:avLst/>
            <a:gdLst/>
            <a:ahLst/>
            <a:cxnLst/>
            <a:rect r="r" b="b" t="t" l="l"/>
            <a:pathLst>
              <a:path h="2802505" w="5165698">
                <a:moveTo>
                  <a:pt x="0" y="0"/>
                </a:moveTo>
                <a:lnTo>
                  <a:pt x="5165699" y="0"/>
                </a:lnTo>
                <a:lnTo>
                  <a:pt x="5165699" y="2802505"/>
                </a:lnTo>
                <a:lnTo>
                  <a:pt x="0" y="2802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50866" y="1892410"/>
            <a:ext cx="5596019" cy="3029692"/>
          </a:xfrm>
          <a:custGeom>
            <a:avLst/>
            <a:gdLst/>
            <a:ahLst/>
            <a:cxnLst/>
            <a:rect r="r" b="b" t="t" l="l"/>
            <a:pathLst>
              <a:path h="3029692" w="5596019">
                <a:moveTo>
                  <a:pt x="0" y="0"/>
                </a:moveTo>
                <a:lnTo>
                  <a:pt x="5596018" y="0"/>
                </a:lnTo>
                <a:lnTo>
                  <a:pt x="5596018" y="3029692"/>
                </a:lnTo>
                <a:lnTo>
                  <a:pt x="0" y="302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29742" y="5749361"/>
            <a:ext cx="5163114" cy="2795972"/>
          </a:xfrm>
          <a:custGeom>
            <a:avLst/>
            <a:gdLst/>
            <a:ahLst/>
            <a:cxnLst/>
            <a:rect r="r" b="b" t="t" l="l"/>
            <a:pathLst>
              <a:path h="2795972" w="5163114">
                <a:moveTo>
                  <a:pt x="0" y="0"/>
                </a:moveTo>
                <a:lnTo>
                  <a:pt x="5163114" y="0"/>
                </a:lnTo>
                <a:lnTo>
                  <a:pt x="5163114" y="2795972"/>
                </a:lnTo>
                <a:lnTo>
                  <a:pt x="0" y="2795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65106" y="5749361"/>
            <a:ext cx="5285760" cy="2866330"/>
          </a:xfrm>
          <a:custGeom>
            <a:avLst/>
            <a:gdLst/>
            <a:ahLst/>
            <a:cxnLst/>
            <a:rect r="r" b="b" t="t" l="l"/>
            <a:pathLst>
              <a:path h="2866330" w="5285760">
                <a:moveTo>
                  <a:pt x="0" y="0"/>
                </a:moveTo>
                <a:lnTo>
                  <a:pt x="5285760" y="0"/>
                </a:lnTo>
                <a:lnTo>
                  <a:pt x="5285760" y="2866330"/>
                </a:lnTo>
                <a:lnTo>
                  <a:pt x="0" y="2866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6765330" y="5236427"/>
            <a:ext cx="10981554" cy="95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2303266" y="1819987"/>
            <a:ext cx="0" cy="7116149"/>
          </a:xfrm>
          <a:prstGeom prst="line">
            <a:avLst/>
          </a:prstGeom>
          <a:ln cap="flat" w="38100">
            <a:solidFill>
              <a:srgbClr val="A458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716686" y="551037"/>
            <a:ext cx="7913057" cy="111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5"/>
              </a:lnSpc>
            </a:pPr>
            <a:r>
              <a:rPr lang="en-US" b="true" sz="8315">
                <a:solidFill>
                  <a:srgbClr val="2C2F6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Textual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4608" y="1629023"/>
            <a:ext cx="2141417" cy="2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STUDIO SHODWE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92856" y="8741720"/>
            <a:ext cx="385473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5742" y="3704731"/>
            <a:ext cx="5974771" cy="481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9772" indent="-264886" lvl="1">
              <a:lnSpc>
                <a:spcPts val="3435"/>
              </a:lnSpc>
              <a:buFont typeface="Arial"/>
              <a:buChar char="•"/>
            </a:pPr>
            <a:r>
              <a:rPr lang="en-US" b="true" sz="2453">
                <a:solidFill>
                  <a:srgbClr val="3D2882"/>
                </a:solidFill>
                <a:latin typeface="Arimo Bold"/>
                <a:ea typeface="Arimo Bold"/>
                <a:cs typeface="Arimo Bold"/>
                <a:sym typeface="Arimo Bold"/>
              </a:rPr>
              <a:t>1-Star reviews center</a:t>
            </a:r>
            <a:r>
              <a:rPr lang="en-US" b="true" sz="245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on billing </a:t>
            </a:r>
          </a:p>
          <a:p>
            <a:pPr algn="l">
              <a:lnSpc>
                <a:spcPts val="3435"/>
              </a:lnSpc>
            </a:pPr>
            <a:r>
              <a:rPr lang="en-US" sz="2453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issues, staff problems, facility concerns.</a:t>
            </a:r>
          </a:p>
          <a:p>
            <a:pPr algn="l">
              <a:lnSpc>
                <a:spcPts val="3435"/>
              </a:lnSpc>
            </a:pPr>
          </a:p>
          <a:p>
            <a:pPr algn="l" marL="529772" indent="-264886" lvl="1">
              <a:lnSpc>
                <a:spcPts val="3435"/>
              </a:lnSpc>
              <a:buFont typeface="Arial"/>
              <a:buChar char="•"/>
            </a:pPr>
            <a:r>
              <a:rPr lang="en-US" b="true" sz="2453">
                <a:solidFill>
                  <a:srgbClr val="2C2F6F"/>
                </a:solidFill>
                <a:latin typeface="Arimo Bold"/>
                <a:ea typeface="Arimo Bold"/>
                <a:cs typeface="Arimo Bold"/>
                <a:sym typeface="Arimo Bold"/>
              </a:rPr>
              <a:t>5-Star reviews </a:t>
            </a:r>
            <a:r>
              <a:rPr lang="en-US" b="true" sz="245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highlight positive</a:t>
            </a:r>
          </a:p>
          <a:p>
            <a:pPr algn="l">
              <a:lnSpc>
                <a:spcPts val="3435"/>
              </a:lnSpc>
            </a:pPr>
            <a:r>
              <a:rPr lang="en-US" sz="2453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staff interactions, cleanliness, </a:t>
            </a:r>
          </a:p>
          <a:p>
            <a:pPr algn="l">
              <a:lnSpc>
                <a:spcPts val="3435"/>
              </a:lnSpc>
            </a:pPr>
            <a:r>
              <a:rPr lang="en-US" sz="2453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and variety of classes.</a:t>
            </a:r>
          </a:p>
          <a:p>
            <a:pPr algn="l">
              <a:lnSpc>
                <a:spcPts val="3435"/>
              </a:lnSpc>
            </a:pPr>
          </a:p>
          <a:p>
            <a:pPr algn="l" marL="529772" indent="-264886" lvl="1">
              <a:lnSpc>
                <a:spcPts val="3435"/>
              </a:lnSpc>
              <a:buFont typeface="Arial"/>
              <a:buChar char="•"/>
            </a:pPr>
            <a:r>
              <a:rPr lang="en-US" b="true" sz="245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LDA reaffirms core themes</a:t>
            </a:r>
          </a:p>
          <a:p>
            <a:pPr algn="l">
              <a:lnSpc>
                <a:spcPts val="3435"/>
              </a:lnSpc>
            </a:pPr>
            <a:r>
              <a:rPr lang="en-US" sz="2453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(equipment, staff, membership, etc.)</a:t>
            </a:r>
          </a:p>
          <a:p>
            <a:pPr algn="ctr">
              <a:lnSpc>
                <a:spcPts val="432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67669"/>
            <a:ext cx="4583670" cy="89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4"/>
              </a:lnSpc>
            </a:pPr>
            <a:r>
              <a:rPr lang="en-US" b="true" sz="6664">
                <a:solidFill>
                  <a:srgbClr val="C6408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Key TAkeaways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39574" y="2139641"/>
            <a:ext cx="7315200" cy="3604399"/>
          </a:xfrm>
          <a:custGeom>
            <a:avLst/>
            <a:gdLst/>
            <a:ahLst/>
            <a:cxnLst/>
            <a:rect r="r" b="b" t="t" l="l"/>
            <a:pathLst>
              <a:path h="3604399" w="7315200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792856" y="8741720"/>
            <a:ext cx="385473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3809" y="489144"/>
            <a:ext cx="16369047" cy="195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5"/>
              </a:lnSpc>
            </a:pPr>
            <a:r>
              <a:rPr lang="en-US" sz="8315" b="true">
                <a:solidFill>
                  <a:srgbClr val="3D288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Classification Analysis</a:t>
            </a:r>
          </a:p>
          <a:p>
            <a:pPr algn="ctr">
              <a:lnSpc>
                <a:spcPts val="6815"/>
              </a:lnSpc>
            </a:pPr>
            <a:r>
              <a:rPr lang="en-US" b="true" sz="6815">
                <a:solidFill>
                  <a:srgbClr val="C6408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(Logistic, RF, XGBoost)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779441" y="2753190"/>
          <a:ext cx="14479859" cy="3019425"/>
        </p:xfrm>
        <a:graphic>
          <a:graphicData uri="http://schemas.openxmlformats.org/drawingml/2006/table">
            <a:tbl>
              <a:tblPr/>
              <a:tblGrid>
                <a:gridCol w="4156986"/>
                <a:gridCol w="2081274"/>
                <a:gridCol w="2956381"/>
                <a:gridCol w="3126128"/>
                <a:gridCol w="2159090"/>
              </a:tblGrid>
              <a:tr h="7919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Model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2F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Accuracy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41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Precision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63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Recall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2F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F1 Score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408A"/>
                    </a:solidFill>
                  </a:tcPr>
                </a:tc>
              </a:tr>
              <a:tr h="7424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i="true" b="true">
                          <a:solidFill>
                            <a:srgbClr val="862F5E"/>
                          </a:solidFill>
                          <a:latin typeface="Arimo Bold Italics"/>
                          <a:ea typeface="Arimo Bold Italics"/>
                          <a:cs typeface="Arimo Bold Italics"/>
                          <a:sym typeface="Arimo Bold Italics"/>
                        </a:rPr>
                        <a:t>Logistic Regression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862F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0.91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862F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862F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0.94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862F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0.94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4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2C6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Random Forest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4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2C6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XG Boost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0.89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>
            <a:off x="634055" y="6277813"/>
            <a:ext cx="1754427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727535" y="6725488"/>
            <a:ext cx="4583670" cy="89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4"/>
              </a:lnSpc>
            </a:pPr>
            <a:r>
              <a:rPr lang="en-US" b="true" sz="6664">
                <a:solidFill>
                  <a:srgbClr val="C6408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Key TAkeaway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75626" y="7809179"/>
            <a:ext cx="1330361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2C2F6F"/>
                </a:solidFill>
                <a:latin typeface="Arial Bold"/>
                <a:ea typeface="Arial Bold"/>
                <a:cs typeface="Arial Bold"/>
                <a:sym typeface="Arial Bold"/>
              </a:rPr>
              <a:t>Logistic Regression achieves the highest overall accuracy (~92%), though all models perform reasonably well on the Positive class.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C2F6F">
                <a:alpha val="100000"/>
              </a:srgbClr>
            </a:gs>
            <a:gs pos="100000">
              <a:srgbClr val="490F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951" y="6954065"/>
            <a:ext cx="5421286" cy="2799389"/>
            <a:chOff x="0" y="0"/>
            <a:chExt cx="1427828" cy="737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9853" y="3187935"/>
            <a:ext cx="5089482" cy="6417970"/>
            <a:chOff x="0" y="0"/>
            <a:chExt cx="1340440" cy="1690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58848" y="2082188"/>
            <a:ext cx="2211493" cy="22114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8A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4302" y="6954065"/>
            <a:ext cx="5421286" cy="2799389"/>
            <a:chOff x="0" y="0"/>
            <a:chExt cx="1427828" cy="737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00203" y="3187935"/>
            <a:ext cx="5089482" cy="6417970"/>
            <a:chOff x="0" y="0"/>
            <a:chExt cx="1340440" cy="16903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39198" y="2082188"/>
            <a:ext cx="2211493" cy="22114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70D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2763" y="6954065"/>
            <a:ext cx="5421286" cy="2799389"/>
            <a:chOff x="0" y="0"/>
            <a:chExt cx="1427828" cy="737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27828" cy="77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78664" y="3187935"/>
            <a:ext cx="5089482" cy="6417970"/>
            <a:chOff x="0" y="0"/>
            <a:chExt cx="1340440" cy="1690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40440" cy="172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7659" y="2082188"/>
            <a:ext cx="2211493" cy="221149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58D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2783603" y="2688954"/>
            <a:ext cx="1361983" cy="997962"/>
          </a:xfrm>
          <a:custGeom>
            <a:avLst/>
            <a:gdLst/>
            <a:ahLst/>
            <a:cxnLst/>
            <a:rect r="r" b="b" t="t" l="l"/>
            <a:pathLst>
              <a:path h="997962" w="1361983">
                <a:moveTo>
                  <a:pt x="0" y="0"/>
                </a:moveTo>
                <a:lnTo>
                  <a:pt x="1361983" y="0"/>
                </a:lnTo>
                <a:lnTo>
                  <a:pt x="1361983" y="997962"/>
                </a:lnTo>
                <a:lnTo>
                  <a:pt x="0" y="99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444462" y="2837693"/>
            <a:ext cx="1400966" cy="700483"/>
          </a:xfrm>
          <a:custGeom>
            <a:avLst/>
            <a:gdLst/>
            <a:ahLst/>
            <a:cxnLst/>
            <a:rect r="r" b="b" t="t" l="l"/>
            <a:pathLst>
              <a:path h="700483" w="1400966">
                <a:moveTo>
                  <a:pt x="0" y="0"/>
                </a:moveTo>
                <a:lnTo>
                  <a:pt x="1400965" y="0"/>
                </a:lnTo>
                <a:lnTo>
                  <a:pt x="1400965" y="700483"/>
                </a:lnTo>
                <a:lnTo>
                  <a:pt x="0" y="70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291591" y="2562271"/>
            <a:ext cx="1063628" cy="1251327"/>
          </a:xfrm>
          <a:custGeom>
            <a:avLst/>
            <a:gdLst/>
            <a:ahLst/>
            <a:cxnLst/>
            <a:rect r="r" b="b" t="t" l="l"/>
            <a:pathLst>
              <a:path h="1251327" w="1063628">
                <a:moveTo>
                  <a:pt x="0" y="0"/>
                </a:moveTo>
                <a:lnTo>
                  <a:pt x="1063629" y="0"/>
                </a:lnTo>
                <a:lnTo>
                  <a:pt x="1063629" y="1251328"/>
                </a:lnTo>
                <a:lnTo>
                  <a:pt x="0" y="125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702765" y="4647629"/>
            <a:ext cx="4920570" cy="1280664"/>
            <a:chOff x="0" y="0"/>
            <a:chExt cx="1295953" cy="3372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95953" cy="337294"/>
            </a:xfrm>
            <a:custGeom>
              <a:avLst/>
              <a:gdLst/>
              <a:ahLst/>
              <a:cxnLst/>
              <a:rect r="r" b="b" t="t" l="l"/>
              <a:pathLst>
                <a:path h="337294" w="1295953">
                  <a:moveTo>
                    <a:pt x="80242" y="0"/>
                  </a:moveTo>
                  <a:lnTo>
                    <a:pt x="1215710" y="0"/>
                  </a:lnTo>
                  <a:cubicBezTo>
                    <a:pt x="1236992" y="0"/>
                    <a:pt x="1257402" y="8454"/>
                    <a:pt x="1272450" y="23502"/>
                  </a:cubicBezTo>
                  <a:cubicBezTo>
                    <a:pt x="1287499" y="38551"/>
                    <a:pt x="1295953" y="58961"/>
                    <a:pt x="1295953" y="80242"/>
                  </a:cubicBezTo>
                  <a:lnTo>
                    <a:pt x="1295953" y="257052"/>
                  </a:lnTo>
                  <a:cubicBezTo>
                    <a:pt x="1295953" y="301369"/>
                    <a:pt x="1260027" y="337294"/>
                    <a:pt x="1215710" y="337294"/>
                  </a:cubicBezTo>
                  <a:lnTo>
                    <a:pt x="80242" y="337294"/>
                  </a:lnTo>
                  <a:cubicBezTo>
                    <a:pt x="35926" y="337294"/>
                    <a:pt x="0" y="301369"/>
                    <a:pt x="0" y="257052"/>
                  </a:cubicBezTo>
                  <a:lnTo>
                    <a:pt x="0" y="80242"/>
                  </a:lnTo>
                  <a:cubicBezTo>
                    <a:pt x="0" y="35926"/>
                    <a:pt x="35926" y="0"/>
                    <a:pt x="80242" y="0"/>
                  </a:cubicBezTo>
                  <a:close/>
                </a:path>
              </a:pathLst>
            </a:custGeom>
            <a:solidFill>
              <a:srgbClr val="8C6AD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295953" cy="375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65649" y="4819144"/>
            <a:ext cx="459789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AA417A"/>
                </a:solidFill>
                <a:latin typeface="Garet Bold"/>
                <a:ea typeface="Garet Bold"/>
                <a:cs typeface="Garet Bold"/>
                <a:sym typeface="Garet Bold"/>
              </a:rPr>
              <a:t>Negative Drivers (1-Star)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144934" y="5022756"/>
            <a:ext cx="411243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7F7F7"/>
                </a:solidFill>
                <a:latin typeface="Garet Bold"/>
                <a:ea typeface="Garet Bold"/>
                <a:cs typeface="Garet Bold"/>
                <a:sym typeface="Garet Bold"/>
              </a:rPr>
              <a:t>Positive Drivers (5-Star)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246908" y="6185982"/>
            <a:ext cx="4435374" cy="283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4"/>
              </a:lnSpc>
            </a:pPr>
            <a:r>
              <a:rPr lang="en-US" sz="2119" b="true">
                <a:solidFill>
                  <a:srgbClr val="2A316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Billing &amp; Contracts: Cancellation difficulties, hidden fees.</a:t>
            </a:r>
          </a:p>
          <a:p>
            <a:pPr algn="just">
              <a:lnSpc>
                <a:spcPts val="3284"/>
              </a:lnSpc>
            </a:pPr>
            <a:r>
              <a:rPr lang="en-US" sz="2119" b="true">
                <a:solidFill>
                  <a:srgbClr val="2A316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Staff &amp; Service: Rude or unhelpful interactions.</a:t>
            </a:r>
          </a:p>
          <a:p>
            <a:pPr algn="just">
              <a:lnSpc>
                <a:spcPts val="3284"/>
              </a:lnSpc>
            </a:pPr>
            <a:r>
              <a:rPr lang="en-US" sz="2119" b="true">
                <a:solidFill>
                  <a:srgbClr val="2A316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Facility: Outdated equipment, cleanliness issues.</a:t>
            </a:r>
          </a:p>
          <a:p>
            <a:pPr algn="just" marL="0" indent="0" lvl="0">
              <a:lnSpc>
                <a:spcPts val="3284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2446138" y="6176457"/>
            <a:ext cx="5841862" cy="245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4"/>
              </a:lnSpc>
            </a:pPr>
            <a:r>
              <a:rPr lang="en-US" sz="2138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Provide transparent contracts, </a:t>
            </a:r>
          </a:p>
          <a:p>
            <a:pPr algn="just">
              <a:lnSpc>
                <a:spcPts val="3314"/>
              </a:lnSpc>
            </a:pPr>
            <a:r>
              <a:rPr lang="en-US" sz="2138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simplify cancellations.</a:t>
            </a:r>
          </a:p>
          <a:p>
            <a:pPr algn="just">
              <a:lnSpc>
                <a:spcPts val="3314"/>
              </a:lnSpc>
            </a:pPr>
            <a:r>
              <a:rPr lang="en-US" sz="2138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Invest in staff </a:t>
            </a:r>
          </a:p>
          <a:p>
            <a:pPr algn="just">
              <a:lnSpc>
                <a:spcPts val="3314"/>
              </a:lnSpc>
            </a:pPr>
            <a:r>
              <a:rPr lang="en-US" sz="2138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training and customer service.</a:t>
            </a:r>
          </a:p>
          <a:p>
            <a:pPr algn="just">
              <a:lnSpc>
                <a:spcPts val="3314"/>
              </a:lnSpc>
            </a:pPr>
            <a:r>
              <a:rPr lang="en-US" sz="2138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Keep facilities clean and up-to-date.</a:t>
            </a:r>
          </a:p>
          <a:p>
            <a:pPr algn="just" marL="0" indent="0" lvl="0">
              <a:lnSpc>
                <a:spcPts val="3053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28700" y="4647629"/>
            <a:ext cx="4920570" cy="1280664"/>
            <a:chOff x="0" y="0"/>
            <a:chExt cx="1295953" cy="3372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95953" cy="337294"/>
            </a:xfrm>
            <a:custGeom>
              <a:avLst/>
              <a:gdLst/>
              <a:ahLst/>
              <a:cxnLst/>
              <a:rect r="r" b="b" t="t" l="l"/>
              <a:pathLst>
                <a:path h="337294" w="1295953">
                  <a:moveTo>
                    <a:pt x="80242" y="0"/>
                  </a:moveTo>
                  <a:lnTo>
                    <a:pt x="1215710" y="0"/>
                  </a:lnTo>
                  <a:cubicBezTo>
                    <a:pt x="1236992" y="0"/>
                    <a:pt x="1257402" y="8454"/>
                    <a:pt x="1272450" y="23502"/>
                  </a:cubicBezTo>
                  <a:cubicBezTo>
                    <a:pt x="1287499" y="38551"/>
                    <a:pt x="1295953" y="58961"/>
                    <a:pt x="1295953" y="80242"/>
                  </a:cubicBezTo>
                  <a:lnTo>
                    <a:pt x="1295953" y="257052"/>
                  </a:lnTo>
                  <a:cubicBezTo>
                    <a:pt x="1295953" y="301369"/>
                    <a:pt x="1260027" y="337294"/>
                    <a:pt x="1215710" y="337294"/>
                  </a:cubicBezTo>
                  <a:lnTo>
                    <a:pt x="80242" y="337294"/>
                  </a:lnTo>
                  <a:cubicBezTo>
                    <a:pt x="35926" y="337294"/>
                    <a:pt x="0" y="301369"/>
                    <a:pt x="0" y="257052"/>
                  </a:cubicBezTo>
                  <a:lnTo>
                    <a:pt x="0" y="80242"/>
                  </a:lnTo>
                  <a:cubicBezTo>
                    <a:pt x="0" y="35926"/>
                    <a:pt x="35926" y="0"/>
                    <a:pt x="80242" y="0"/>
                  </a:cubicBezTo>
                  <a:close/>
                </a:path>
              </a:pathLst>
            </a:custGeom>
            <a:solidFill>
              <a:srgbClr val="CA8AE1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295953" cy="375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46908" y="5067868"/>
            <a:ext cx="459789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Negative Drivers (1-Star)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6816336" y="6214044"/>
            <a:ext cx="4655328" cy="296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5"/>
              </a:lnSpc>
            </a:pPr>
            <a:r>
              <a:rPr lang="en-US" sz="2184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FriendlyStaff: Helpful, welcoming environment.</a:t>
            </a:r>
          </a:p>
          <a:p>
            <a:pPr algn="just">
              <a:lnSpc>
                <a:spcPts val="3385"/>
              </a:lnSpc>
            </a:pPr>
            <a:r>
              <a:rPr lang="en-US" sz="2184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Clean, Well-Maintained Facilities: Modern equipment, tidy areas.</a:t>
            </a:r>
          </a:p>
          <a:p>
            <a:pPr algn="just">
              <a:lnSpc>
                <a:spcPts val="3385"/>
              </a:lnSpc>
            </a:pPr>
            <a:r>
              <a:rPr lang="en-US" sz="2184" b="true">
                <a:solidFill>
                  <a:srgbClr val="3D288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 Variety: Diverse workouts, training sessions, group classes</a:t>
            </a:r>
          </a:p>
          <a:p>
            <a:pPr algn="just" marL="0" indent="0" lvl="0">
              <a:lnSpc>
                <a:spcPts val="3385"/>
              </a:lnSpc>
            </a:pPr>
          </a:p>
        </p:txBody>
      </p:sp>
      <p:grpSp>
        <p:nvGrpSpPr>
          <p:cNvPr name="Group 45" id="45"/>
          <p:cNvGrpSpPr/>
          <p:nvPr/>
        </p:nvGrpSpPr>
        <p:grpSpPr>
          <a:xfrm rot="0">
            <a:off x="12385011" y="4632837"/>
            <a:ext cx="4920570" cy="1280664"/>
            <a:chOff x="0" y="0"/>
            <a:chExt cx="1295953" cy="3372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95953" cy="337294"/>
            </a:xfrm>
            <a:custGeom>
              <a:avLst/>
              <a:gdLst/>
              <a:ahLst/>
              <a:cxnLst/>
              <a:rect r="r" b="b" t="t" l="l"/>
              <a:pathLst>
                <a:path h="337294" w="1295953">
                  <a:moveTo>
                    <a:pt x="80242" y="0"/>
                  </a:moveTo>
                  <a:lnTo>
                    <a:pt x="1215710" y="0"/>
                  </a:lnTo>
                  <a:cubicBezTo>
                    <a:pt x="1236992" y="0"/>
                    <a:pt x="1257402" y="8454"/>
                    <a:pt x="1272450" y="23502"/>
                  </a:cubicBezTo>
                  <a:cubicBezTo>
                    <a:pt x="1287499" y="38551"/>
                    <a:pt x="1295953" y="58961"/>
                    <a:pt x="1295953" y="80242"/>
                  </a:cubicBezTo>
                  <a:lnTo>
                    <a:pt x="1295953" y="257052"/>
                  </a:lnTo>
                  <a:cubicBezTo>
                    <a:pt x="1295953" y="301369"/>
                    <a:pt x="1260027" y="337294"/>
                    <a:pt x="1215710" y="337294"/>
                  </a:cubicBezTo>
                  <a:lnTo>
                    <a:pt x="80242" y="337294"/>
                  </a:lnTo>
                  <a:cubicBezTo>
                    <a:pt x="35926" y="337294"/>
                    <a:pt x="0" y="301369"/>
                    <a:pt x="0" y="257052"/>
                  </a:cubicBezTo>
                  <a:lnTo>
                    <a:pt x="0" y="80242"/>
                  </a:lnTo>
                  <a:cubicBezTo>
                    <a:pt x="0" y="35926"/>
                    <a:pt x="35926" y="0"/>
                    <a:pt x="80242" y="0"/>
                  </a:cubicBezTo>
                  <a:close/>
                </a:path>
              </a:pathLst>
            </a:custGeom>
            <a:solidFill>
              <a:srgbClr val="A458DC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295953" cy="375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889836" y="5022756"/>
            <a:ext cx="411243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7F7F7"/>
                </a:solidFill>
                <a:latin typeface="Garet Bold"/>
                <a:ea typeface="Garet Bold"/>
                <a:cs typeface="Garet Bold"/>
                <a:sym typeface="Garet Bold"/>
              </a:rPr>
              <a:t>Recommendations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5806565" y="1384285"/>
            <a:ext cx="6578446" cy="145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2"/>
              </a:lnSpc>
            </a:pPr>
            <a:r>
              <a:rPr lang="en-US" sz="5582" b="true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insights for Gym Owners</a:t>
            </a:r>
          </a:p>
          <a:p>
            <a:pPr algn="ctr">
              <a:lnSpc>
                <a:spcPts val="5582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6816336" y="336994"/>
            <a:ext cx="4694825" cy="96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8"/>
              </a:lnSpc>
            </a:pPr>
            <a:r>
              <a:rPr lang="en-US" b="true" sz="7248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Actionable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C2F6F">
                <a:alpha val="100000"/>
              </a:srgbClr>
            </a:gs>
            <a:gs pos="100000">
              <a:srgbClr val="490F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92856" y="8741720"/>
            <a:ext cx="385473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8963" y="419682"/>
            <a:ext cx="5385535" cy="112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5"/>
              </a:lnSpc>
            </a:pPr>
            <a:r>
              <a:rPr lang="en-US" sz="8315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Conclusion &amp;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8963" y="1367142"/>
            <a:ext cx="5385535" cy="95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5"/>
              </a:lnSpc>
            </a:pPr>
            <a:r>
              <a:rPr lang="en-US" sz="7115" b="true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67382"/>
            <a:ext cx="13357029" cy="144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0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1-Star reviews often cite contract/staff/equipment issues.</a:t>
            </a:r>
          </a:p>
          <a:p>
            <a:pPr algn="l">
              <a:lnSpc>
                <a:spcPts val="2856"/>
              </a:lnSpc>
            </a:pPr>
            <a:r>
              <a:rPr lang="en-US" sz="20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5-Star reviews emphasize positive staff experiences, cleanliness, and class variety.</a:t>
            </a:r>
          </a:p>
          <a:p>
            <a:pPr algn="l">
              <a:lnSpc>
                <a:spcPts val="2856"/>
              </a:lnSpc>
            </a:pPr>
            <a:r>
              <a:rPr lang="en-US" sz="20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Logistic Regression is the top performer (92% accuracy), with RF and XGBoost close behind.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589247" y="5793724"/>
            <a:ext cx="10990170" cy="235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6"/>
              </a:lnSpc>
            </a:pPr>
            <a:r>
              <a:rPr lang="en-US" sz="22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Data Balancing:</a:t>
            </a:r>
            <a:r>
              <a:rPr lang="en-US" sz="224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Address star rating imbalance (especially 2–4 stars).</a:t>
            </a:r>
          </a:p>
          <a:p>
            <a:pPr algn="l">
              <a:lnSpc>
                <a:spcPts val="3136"/>
              </a:lnSpc>
            </a:pPr>
            <a:r>
              <a:rPr lang="en-US" sz="22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More Topics or Larger Corpus:</a:t>
            </a:r>
            <a:r>
              <a:rPr lang="en-US" sz="224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Refine LDA or try advanced topic modeling for deeper insights.</a:t>
            </a:r>
          </a:p>
          <a:p>
            <a:pPr algn="l">
              <a:lnSpc>
                <a:spcPts val="3136"/>
              </a:lnSpc>
            </a:pPr>
            <a:r>
              <a:rPr lang="en-US" sz="22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Real-Time Feedback:</a:t>
            </a:r>
            <a:r>
              <a:rPr lang="en-US" sz="224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Deploy sentiment classification to track reviews continuously.</a:t>
            </a:r>
          </a:p>
          <a:p>
            <a:pPr algn="l">
              <a:lnSpc>
                <a:spcPts val="3276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316162" y="-1284995"/>
            <a:ext cx="7315200" cy="3604399"/>
          </a:xfrm>
          <a:custGeom>
            <a:avLst/>
            <a:gdLst/>
            <a:ahLst/>
            <a:cxnLst/>
            <a:rect r="r" b="b" t="t" l="l"/>
            <a:pathLst>
              <a:path h="3604399" w="7315200">
                <a:moveTo>
                  <a:pt x="0" y="0"/>
                </a:moveTo>
                <a:lnTo>
                  <a:pt x="7315200" y="0"/>
                </a:lnTo>
                <a:lnTo>
                  <a:pt x="7315200" y="3604398"/>
                </a:lnTo>
                <a:lnTo>
                  <a:pt x="0" y="360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08963" y="2546880"/>
            <a:ext cx="3884287" cy="775160"/>
            <a:chOff x="0" y="0"/>
            <a:chExt cx="1023022" cy="2041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3022" cy="204157"/>
            </a:xfrm>
            <a:custGeom>
              <a:avLst/>
              <a:gdLst/>
              <a:ahLst/>
              <a:cxnLst/>
              <a:rect r="r" b="b" t="t" l="l"/>
              <a:pathLst>
                <a:path h="204157" w="1023022">
                  <a:moveTo>
                    <a:pt x="101650" y="0"/>
                  </a:moveTo>
                  <a:lnTo>
                    <a:pt x="921372" y="0"/>
                  </a:lnTo>
                  <a:cubicBezTo>
                    <a:pt x="977512" y="0"/>
                    <a:pt x="1023022" y="45510"/>
                    <a:pt x="1023022" y="101650"/>
                  </a:cubicBezTo>
                  <a:lnTo>
                    <a:pt x="1023022" y="102507"/>
                  </a:lnTo>
                  <a:cubicBezTo>
                    <a:pt x="1023022" y="158647"/>
                    <a:pt x="977512" y="204157"/>
                    <a:pt x="921372" y="204157"/>
                  </a:cubicBezTo>
                  <a:lnTo>
                    <a:pt x="101650" y="204157"/>
                  </a:lnTo>
                  <a:cubicBezTo>
                    <a:pt x="74691" y="204157"/>
                    <a:pt x="48836" y="193448"/>
                    <a:pt x="29773" y="174385"/>
                  </a:cubicBezTo>
                  <a:cubicBezTo>
                    <a:pt x="10710" y="155322"/>
                    <a:pt x="0" y="129467"/>
                    <a:pt x="0" y="102507"/>
                  </a:cubicBezTo>
                  <a:lnTo>
                    <a:pt x="0" y="101650"/>
                  </a:lnTo>
                  <a:cubicBezTo>
                    <a:pt x="0" y="74691"/>
                    <a:pt x="10710" y="48836"/>
                    <a:pt x="29773" y="29773"/>
                  </a:cubicBezTo>
                  <a:cubicBezTo>
                    <a:pt x="48836" y="10710"/>
                    <a:pt x="74691" y="0"/>
                    <a:pt x="1016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3022" cy="25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862F5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Summary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98798" y="4910985"/>
            <a:ext cx="3884287" cy="775160"/>
            <a:chOff x="0" y="0"/>
            <a:chExt cx="1023022" cy="204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3022" cy="204157"/>
            </a:xfrm>
            <a:custGeom>
              <a:avLst/>
              <a:gdLst/>
              <a:ahLst/>
              <a:cxnLst/>
              <a:rect r="r" b="b" t="t" l="l"/>
              <a:pathLst>
                <a:path h="204157" w="1023022">
                  <a:moveTo>
                    <a:pt x="101650" y="0"/>
                  </a:moveTo>
                  <a:lnTo>
                    <a:pt x="921372" y="0"/>
                  </a:lnTo>
                  <a:cubicBezTo>
                    <a:pt x="977512" y="0"/>
                    <a:pt x="1023022" y="45510"/>
                    <a:pt x="1023022" y="101650"/>
                  </a:cubicBezTo>
                  <a:lnTo>
                    <a:pt x="1023022" y="102507"/>
                  </a:lnTo>
                  <a:cubicBezTo>
                    <a:pt x="1023022" y="158647"/>
                    <a:pt x="977512" y="204157"/>
                    <a:pt x="921372" y="204157"/>
                  </a:cubicBezTo>
                  <a:lnTo>
                    <a:pt x="101650" y="204157"/>
                  </a:lnTo>
                  <a:cubicBezTo>
                    <a:pt x="74691" y="204157"/>
                    <a:pt x="48836" y="193448"/>
                    <a:pt x="29773" y="174385"/>
                  </a:cubicBezTo>
                  <a:cubicBezTo>
                    <a:pt x="10710" y="155322"/>
                    <a:pt x="0" y="129467"/>
                    <a:pt x="0" y="102507"/>
                  </a:cubicBezTo>
                  <a:lnTo>
                    <a:pt x="0" y="101650"/>
                  </a:lnTo>
                  <a:cubicBezTo>
                    <a:pt x="0" y="74691"/>
                    <a:pt x="10710" y="48836"/>
                    <a:pt x="29773" y="29773"/>
                  </a:cubicBezTo>
                  <a:cubicBezTo>
                    <a:pt x="48836" y="10710"/>
                    <a:pt x="74691" y="0"/>
                    <a:pt x="1016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3022" cy="25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862F5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Future Directions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68818" y="7757798"/>
            <a:ext cx="3884287" cy="775160"/>
            <a:chOff x="0" y="0"/>
            <a:chExt cx="1023022" cy="204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3022" cy="204157"/>
            </a:xfrm>
            <a:custGeom>
              <a:avLst/>
              <a:gdLst/>
              <a:ahLst/>
              <a:cxnLst/>
              <a:rect r="r" b="b" t="t" l="l"/>
              <a:pathLst>
                <a:path h="204157" w="1023022">
                  <a:moveTo>
                    <a:pt x="101650" y="0"/>
                  </a:moveTo>
                  <a:lnTo>
                    <a:pt x="921372" y="0"/>
                  </a:lnTo>
                  <a:cubicBezTo>
                    <a:pt x="977512" y="0"/>
                    <a:pt x="1023022" y="45510"/>
                    <a:pt x="1023022" y="101650"/>
                  </a:cubicBezTo>
                  <a:lnTo>
                    <a:pt x="1023022" y="102507"/>
                  </a:lnTo>
                  <a:cubicBezTo>
                    <a:pt x="1023022" y="158647"/>
                    <a:pt x="977512" y="204157"/>
                    <a:pt x="921372" y="204157"/>
                  </a:cubicBezTo>
                  <a:lnTo>
                    <a:pt x="101650" y="204157"/>
                  </a:lnTo>
                  <a:cubicBezTo>
                    <a:pt x="74691" y="204157"/>
                    <a:pt x="48836" y="193448"/>
                    <a:pt x="29773" y="174385"/>
                  </a:cubicBezTo>
                  <a:cubicBezTo>
                    <a:pt x="10710" y="155322"/>
                    <a:pt x="0" y="129467"/>
                    <a:pt x="0" y="102507"/>
                  </a:cubicBezTo>
                  <a:lnTo>
                    <a:pt x="0" y="101650"/>
                  </a:lnTo>
                  <a:cubicBezTo>
                    <a:pt x="0" y="74691"/>
                    <a:pt x="10710" y="48836"/>
                    <a:pt x="29773" y="29773"/>
                  </a:cubicBezTo>
                  <a:cubicBezTo>
                    <a:pt x="48836" y="10710"/>
                    <a:pt x="74691" y="0"/>
                    <a:pt x="1016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3022" cy="251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862F5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Closing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07078" y="8690168"/>
            <a:ext cx="13357029" cy="109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1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Focus on billing transparency, customer</a:t>
            </a:r>
          </a:p>
          <a:p>
            <a:pPr algn="l">
              <a:lnSpc>
                <a:spcPts val="2996"/>
              </a:lnSpc>
            </a:pPr>
            <a:r>
              <a:rPr lang="en-US" sz="214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service, and facility upgrades for </a:t>
            </a:r>
          </a:p>
          <a:p>
            <a:pPr algn="l">
              <a:lnSpc>
                <a:spcPts val="2996"/>
              </a:lnSpc>
              <a:spcBef>
                <a:spcPct val="0"/>
              </a:spcBef>
            </a:pPr>
            <a:r>
              <a:rPr lang="en-US" b="true" sz="214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the biggest impact.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C2F6F">
                <a:alpha val="100000"/>
              </a:srgbClr>
            </a:gs>
            <a:gs pos="100000">
              <a:srgbClr val="490F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43855" y="9017559"/>
            <a:ext cx="2990767" cy="25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  <a:spcBef>
                <a:spcPct val="0"/>
              </a:spcBef>
            </a:pPr>
            <a:r>
              <a:rPr lang="en-US" b="true" sz="1466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WWW.REALLYGREATSITE.COM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579417" y="8585700"/>
            <a:ext cx="1075518" cy="708583"/>
            <a:chOff x="0" y="0"/>
            <a:chExt cx="283264" cy="186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264" cy="186623"/>
            </a:xfrm>
            <a:custGeom>
              <a:avLst/>
              <a:gdLst/>
              <a:ahLst/>
              <a:cxnLst/>
              <a:rect r="r" b="b" t="t" l="l"/>
              <a:pathLst>
                <a:path h="186623" w="283264">
                  <a:moveTo>
                    <a:pt x="0" y="0"/>
                  </a:moveTo>
                  <a:lnTo>
                    <a:pt x="283264" y="0"/>
                  </a:lnTo>
                  <a:lnTo>
                    <a:pt x="283264" y="186623"/>
                  </a:lnTo>
                  <a:lnTo>
                    <a:pt x="0" y="18662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3264" cy="22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792856" y="8741720"/>
            <a:ext cx="385473" cy="3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3D2882"/>
                </a:solidFill>
                <a:latin typeface="Raleway Bold"/>
                <a:ea typeface="Raleway Bold"/>
                <a:cs typeface="Raleway Bold"/>
                <a:sym typeface="Raleway Bold"/>
              </a:rPr>
              <a:t>15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82854" y="2139641"/>
            <a:ext cx="5522291" cy="552229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87BA1">
                    <a:alpha val="100000"/>
                  </a:srgbClr>
                </a:gs>
                <a:gs pos="100000">
                  <a:srgbClr val="E7E8E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234622" y="4052937"/>
            <a:ext cx="6229901" cy="232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82"/>
              </a:lnSpc>
            </a:pPr>
            <a:r>
              <a:rPr lang="en-US" sz="17182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4335" y="4052933"/>
            <a:ext cx="3877436" cy="232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82"/>
              </a:lnSpc>
            </a:pPr>
            <a:r>
              <a:rPr lang="en-US" sz="17182" b="true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you!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163023" y="4969027"/>
            <a:ext cx="5034668" cy="2810260"/>
          </a:xfrm>
          <a:custGeom>
            <a:avLst/>
            <a:gdLst/>
            <a:ahLst/>
            <a:cxnLst/>
            <a:rect r="r" b="b" t="t" l="l"/>
            <a:pathLst>
              <a:path h="2810260" w="5034668">
                <a:moveTo>
                  <a:pt x="0" y="0"/>
                </a:moveTo>
                <a:lnTo>
                  <a:pt x="5034669" y="0"/>
                </a:lnTo>
                <a:lnTo>
                  <a:pt x="5034669" y="2810261"/>
                </a:lnTo>
                <a:lnTo>
                  <a:pt x="0" y="2810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44121" y="2562375"/>
            <a:ext cx="2843806" cy="1587361"/>
          </a:xfrm>
          <a:custGeom>
            <a:avLst/>
            <a:gdLst/>
            <a:ahLst/>
            <a:cxnLst/>
            <a:rect r="r" b="b" t="t" l="l"/>
            <a:pathLst>
              <a:path h="1587361" w="2843806">
                <a:moveTo>
                  <a:pt x="0" y="0"/>
                </a:moveTo>
                <a:lnTo>
                  <a:pt x="2843807" y="0"/>
                </a:lnTo>
                <a:lnTo>
                  <a:pt x="2843807" y="1587361"/>
                </a:lnTo>
                <a:lnTo>
                  <a:pt x="0" y="158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4971" y="5919124"/>
            <a:ext cx="4161530" cy="204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34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RYAN KARIM, </a:t>
            </a:r>
          </a:p>
          <a:p>
            <a:pPr algn="l">
              <a:lnSpc>
                <a:spcPts val="3276"/>
              </a:lnSpc>
            </a:pPr>
            <a:r>
              <a:rPr lang="en-US" sz="234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SAGAR PASAD</a:t>
            </a:r>
          </a:p>
          <a:p>
            <a:pPr algn="l">
              <a:lnSpc>
                <a:spcPts val="3276"/>
              </a:lnSpc>
            </a:pPr>
            <a:r>
              <a:rPr lang="en-US" sz="234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ANWESHA BANERJEE</a:t>
            </a:r>
          </a:p>
          <a:p>
            <a:pPr algn="l">
              <a:lnSpc>
                <a:spcPts val="3276"/>
              </a:lnSpc>
            </a:pPr>
            <a:r>
              <a:rPr lang="en-US" sz="234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ZIFAN WANG</a:t>
            </a:r>
          </a:p>
          <a:p>
            <a:pPr algn="l">
              <a:lnSpc>
                <a:spcPts val="3276"/>
              </a:lnSpc>
              <a:spcBef>
                <a:spcPct val="0"/>
              </a:spcBef>
            </a:pPr>
            <a:r>
              <a:rPr lang="en-US" sz="234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KEVIN MAREPAL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971" y="5170683"/>
            <a:ext cx="3089027" cy="80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2"/>
              </a:lnSpc>
            </a:pPr>
            <a:r>
              <a:rPr lang="en-US" sz="6042" b="true">
                <a:solidFill>
                  <a:srgbClr val="D563A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TeaM 110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DAGguL6JAJ8</dc:identifier>
  <dcterms:modified xsi:type="dcterms:W3CDTF">2011-08-01T06:04:30Z</dcterms:modified>
  <cp:revision>1</cp:revision>
  <dc:title>509-110 Team</dc:title>
</cp:coreProperties>
</file>